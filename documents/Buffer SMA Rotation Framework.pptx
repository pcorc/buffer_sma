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9" r:id="rId2"/>
    <p:sldId id="257" r:id="rId3"/>
    <p:sldId id="258" r:id="rId4"/>
    <p:sldId id="261" r:id="rId5"/>
    <p:sldId id="263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11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0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8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2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7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7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6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0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0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6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5239-DD1C-1DB4-EC43-A0E615CA5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Buffer SMA Rotation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D1A72-97DA-4946-DF44-08EC7807B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04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1653-9D84-14D9-1E3D-CC34CBEC5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533" y="49089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What We Tested - The Framework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ADA1FD-FB2F-63E9-DC8B-BAF4D0CA8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6456"/>
            <a:ext cx="5157787" cy="823912"/>
          </a:xfrm>
        </p:spPr>
        <p:txBody>
          <a:bodyPr/>
          <a:lstStyle/>
          <a:p>
            <a:r>
              <a:rPr lang="en-US" dirty="0"/>
              <a:t>WHEN to switch (Triggers)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D47CB2-4E00-10F4-734D-82100CAB6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97564"/>
            <a:ext cx="5157787" cy="3684588"/>
          </a:xfrm>
        </p:spPr>
        <p:txBody>
          <a:bodyPr/>
          <a:lstStyle/>
          <a:p>
            <a:r>
              <a:rPr lang="en-US" sz="2400" dirty="0"/>
              <a:t>Cap Utilization Threshold</a:t>
            </a:r>
          </a:p>
          <a:p>
            <a:r>
              <a:rPr lang="en-US" sz="2400" dirty="0"/>
              <a:t>Remaining Cap Threshold</a:t>
            </a:r>
          </a:p>
          <a:p>
            <a:r>
              <a:rPr lang="en-US" sz="2400" dirty="0"/>
              <a:t>Reference Asset Return</a:t>
            </a:r>
          </a:p>
          <a:p>
            <a:r>
              <a:rPr lang="en-US" sz="2400" dirty="0"/>
              <a:t>Time-Based Rebalance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C9A020C-3D27-535A-63C8-D59277511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6456"/>
            <a:ext cx="5183188" cy="823912"/>
          </a:xfrm>
        </p:spPr>
        <p:txBody>
          <a:bodyPr/>
          <a:lstStyle/>
          <a:p>
            <a:r>
              <a:rPr lang="en-US" dirty="0"/>
              <a:t>WHAT to switch to (Selections)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2D95F-5F2E-0C49-A12B-24B9D2661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97564"/>
            <a:ext cx="5183188" cy="3684588"/>
          </a:xfrm>
        </p:spPr>
        <p:txBody>
          <a:bodyPr>
            <a:normAutofit/>
          </a:bodyPr>
          <a:lstStyle/>
          <a:p>
            <a:r>
              <a:rPr lang="en-US" sz="2400" dirty="0"/>
              <a:t>Highest Remaining Cap (bullish)</a:t>
            </a:r>
          </a:p>
          <a:p>
            <a:r>
              <a:rPr lang="en-US" sz="2400" dirty="0"/>
              <a:t>Lowest Cap Utilization (defensive)</a:t>
            </a:r>
          </a:p>
          <a:p>
            <a:r>
              <a:rPr lang="en-US" sz="2400" dirty="0"/>
              <a:t>Most Recent Launch (neutral)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8416E-E796-497F-710D-D0ECE0B5CF92}"/>
              </a:ext>
            </a:extLst>
          </p:cNvPr>
          <p:cNvSpPr txBox="1"/>
          <p:nvPr/>
        </p:nvSpPr>
        <p:spPr>
          <a:xfrm>
            <a:off x="836612" y="5975798"/>
            <a:ext cx="9201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Over 400 simulations ran. Can expand to test other combinations, consider </a:t>
            </a:r>
            <a:r>
              <a:rPr lang="en-US" sz="1600" i="1" dirty="0" err="1"/>
              <a:t>greeks</a:t>
            </a:r>
            <a:r>
              <a:rPr lang="en-US" sz="1600" i="1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38677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4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72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80" name="Rectangle 179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82" name="Top left">
            <a:extLst>
              <a:ext uri="{FF2B5EF4-FFF2-40B4-BE49-F238E27FC236}">
                <a16:creationId xmlns:a16="http://schemas.microsoft.com/office/drawing/2014/main" id="{1ED0CD63-0CEE-4A2D-852E-9024CC0EE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DED2D10-5CAB-4561-BF51-AB4D6F686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669A316-6346-4B9B-9B0E-127C7E41D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3959FE11-87F4-4168-83C0-93FC9F815C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379612C-91D9-4B79-BF0C-BF6BD6DE3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59C6800-5215-4552-8724-04005257B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5E9BF2-3BEC-4FF2-9779-39E04AB80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15AF3EB-6F90-4344-85F6-3BF73ED49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0E20EA38-C0BA-4063-890F-67C883BB7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3BE363-F620-5E89-2EEE-0FEDB141E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7" y="1035748"/>
            <a:ext cx="3465281" cy="21474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Existing Naïve 90% Cap Threshold Underperforms</a:t>
            </a:r>
          </a:p>
        </p:txBody>
      </p:sp>
      <p:grpSp>
        <p:nvGrpSpPr>
          <p:cNvPr id="190" name="Cross">
            <a:extLst>
              <a:ext uri="{FF2B5EF4-FFF2-40B4-BE49-F238E27FC236}">
                <a16:creationId xmlns:a16="http://schemas.microsoft.com/office/drawing/2014/main" id="{0001FA93-A08C-45AC-BBFE-6BD929C1A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47495D4-8CBF-49C0-B0AA-2B8DE4783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D1CE716-76E5-49FA-B90B-C472810AC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ADD03A3-B9F4-C572-DFC7-6CDF1F9D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7" y="3777179"/>
            <a:ext cx="3899635" cy="2778490"/>
          </a:xfrm>
          <a:prstGeom prst="rect">
            <a:avLst/>
          </a:prstGeom>
        </p:spPr>
      </p:pic>
      <p:grpSp>
        <p:nvGrpSpPr>
          <p:cNvPr id="192" name="Bottom Right">
            <a:extLst>
              <a:ext uri="{FF2B5EF4-FFF2-40B4-BE49-F238E27FC236}">
                <a16:creationId xmlns:a16="http://schemas.microsoft.com/office/drawing/2014/main" id="{ED4E4EA4-598E-40C2-A9A2-06F2A9105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A959CB5C-4A9C-4594-AF47-0AB173DAC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7916BAA-AA7D-4662-94C6-9222B33DE6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1015D52E-DE10-48B3-8FA8-55A32F973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99246E9-7F89-4953-B188-B50D91FED7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DC05B0D-54CD-4E82-BEDA-FF69B6EF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127FD00E-4B00-44C4-96DC-6237A445DC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C4A4AAD-0448-47ED-B543-EDB23F18CE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7F3BEC5-9019-4FB7-B99E-0BA06A4AE3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4A7DE6C-E357-4E9D-B04C-B4A0FD6F8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61B3E6B-4665-8942-2541-5C680FE17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85" y="337231"/>
            <a:ext cx="7641551" cy="427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4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D8AE5-5FF2-7C68-4FA8-5CFCAC4858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Recommendation for further discussion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6F16BDB7-DCC6-3ECA-BB65-FD55D9D6E1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6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A679E0E-2158-CD9E-2A36-C0F4D4B415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94417406"/>
              </p:ext>
            </p:extLst>
          </p:nvPr>
        </p:nvGraphicFramePr>
        <p:xfrm>
          <a:off x="6235405" y="4900605"/>
          <a:ext cx="5380587" cy="185804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2256">
                  <a:extLst>
                    <a:ext uri="{9D8B030D-6E8A-4147-A177-3AD203B41FA5}">
                      <a16:colId xmlns:a16="http://schemas.microsoft.com/office/drawing/2014/main" val="3896220260"/>
                    </a:ext>
                  </a:extLst>
                </a:gridCol>
                <a:gridCol w="871435">
                  <a:extLst>
                    <a:ext uri="{9D8B030D-6E8A-4147-A177-3AD203B41FA5}">
                      <a16:colId xmlns:a16="http://schemas.microsoft.com/office/drawing/2014/main" val="1707730481"/>
                    </a:ext>
                  </a:extLst>
                </a:gridCol>
                <a:gridCol w="1223407">
                  <a:extLst>
                    <a:ext uri="{9D8B030D-6E8A-4147-A177-3AD203B41FA5}">
                      <a16:colId xmlns:a16="http://schemas.microsoft.com/office/drawing/2014/main" val="2857040439"/>
                    </a:ext>
                  </a:extLst>
                </a:gridCol>
                <a:gridCol w="1108318">
                  <a:extLst>
                    <a:ext uri="{9D8B030D-6E8A-4147-A177-3AD203B41FA5}">
                      <a16:colId xmlns:a16="http://schemas.microsoft.com/office/drawing/2014/main" val="4057002109"/>
                    </a:ext>
                  </a:extLst>
                </a:gridCol>
                <a:gridCol w="1405171">
                  <a:extLst>
                    <a:ext uri="{9D8B030D-6E8A-4147-A177-3AD203B41FA5}">
                      <a16:colId xmlns:a16="http://schemas.microsoft.com/office/drawing/2014/main" val="502079861"/>
                    </a:ext>
                  </a:extLst>
                </a:gridCol>
              </a:tblGrid>
              <a:tr h="30972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Outlook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Intuition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042766"/>
                  </a:ext>
                </a:extLst>
              </a:tr>
              <a:tr h="7464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Bullish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Quarterly Rebalance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Highest Remaining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markets will continue rising and want to maximize upside capture.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102910"/>
                  </a:ext>
                </a:extLst>
              </a:tr>
              <a:tr h="80191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Bullish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Cap Utilization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Lowest Cap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/>
                        <a:t>want to respond quickly to market moves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884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411604F8-755C-0CF7-0849-46D6041B88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643982"/>
              </p:ext>
            </p:extLst>
          </p:nvPr>
        </p:nvGraphicFramePr>
        <p:xfrm>
          <a:off x="87030" y="4928075"/>
          <a:ext cx="5380587" cy="19135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72256">
                  <a:extLst>
                    <a:ext uri="{9D8B030D-6E8A-4147-A177-3AD203B41FA5}">
                      <a16:colId xmlns:a16="http://schemas.microsoft.com/office/drawing/2014/main" val="3701678948"/>
                    </a:ext>
                  </a:extLst>
                </a:gridCol>
                <a:gridCol w="871435">
                  <a:extLst>
                    <a:ext uri="{9D8B030D-6E8A-4147-A177-3AD203B41FA5}">
                      <a16:colId xmlns:a16="http://schemas.microsoft.com/office/drawing/2014/main" val="2433996505"/>
                    </a:ext>
                  </a:extLst>
                </a:gridCol>
                <a:gridCol w="1223407">
                  <a:extLst>
                    <a:ext uri="{9D8B030D-6E8A-4147-A177-3AD203B41FA5}">
                      <a16:colId xmlns:a16="http://schemas.microsoft.com/office/drawing/2014/main" val="3048724312"/>
                    </a:ext>
                  </a:extLst>
                </a:gridCol>
                <a:gridCol w="1108318">
                  <a:extLst>
                    <a:ext uri="{9D8B030D-6E8A-4147-A177-3AD203B41FA5}">
                      <a16:colId xmlns:a16="http://schemas.microsoft.com/office/drawing/2014/main" val="2901047968"/>
                    </a:ext>
                  </a:extLst>
                </a:gridCol>
                <a:gridCol w="1405171">
                  <a:extLst>
                    <a:ext uri="{9D8B030D-6E8A-4147-A177-3AD203B41FA5}">
                      <a16:colId xmlns:a16="http://schemas.microsoft.com/office/drawing/2014/main" val="3159255932"/>
                    </a:ext>
                  </a:extLst>
                </a:gridCol>
              </a:tblGrid>
              <a:tr h="30972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Outlook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Intuition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447777"/>
                  </a:ext>
                </a:extLst>
              </a:tr>
              <a:tr h="80191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Quarterly Rebalance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Lowest Remaining Buffer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n/a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Invest in funds in or at buffer zone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657189"/>
                  </a:ext>
                </a:extLst>
              </a:tr>
              <a:tr h="80191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Defensive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Remaining Buffer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Lowest Downside Before Buffer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15%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900" kern="1200" dirty="0">
                          <a:solidFill>
                            <a:schemeClr val="dk1"/>
                          </a:solidFill>
                        </a:rPr>
                        <a:t>Invest in funds below ATM strike and in the buffer zone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15397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D8BC699B-DB15-EEC7-6A69-BB439C99E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377" y="99348"/>
            <a:ext cx="8500056" cy="469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1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22" name="Top left">
            <a:extLst>
              <a:ext uri="{FF2B5EF4-FFF2-40B4-BE49-F238E27FC236}">
                <a16:creationId xmlns:a16="http://schemas.microsoft.com/office/drawing/2014/main" id="{459862C0-828C-4688-9C70-32B10630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D913CF1-1352-4A05-9FFE-BAC2B9EF9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94EFAD0-1F3C-4A6A-AA1D-211ED5654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D71D53D-E478-4044-985B-57A5A530E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89D7948-C0E9-43BA-9CB4-975A6D943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2E1523D-C3CB-46C6-B1CD-14A95DF0A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7C548BC-A312-4789-93A8-CBCFC2FC5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D0292AB-E3CA-4B26-BF97-0065659D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96E2A19-992B-423A-BC43-9132FB364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83AD4B-C298-8186-6111-603F1A6B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498" y="424430"/>
            <a:ext cx="5605358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No Universal Solution (Regime Matters)</a:t>
            </a:r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1053F4E-9FA5-4F7B-9769-047E79535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AA991CC-0407-E261-3F5E-A24597CE6C86}"/>
              </a:ext>
            </a:extLst>
          </p:cNvPr>
          <p:cNvSpPr txBox="1">
            <a:spLocks/>
          </p:cNvSpPr>
          <p:nvPr/>
        </p:nvSpPr>
        <p:spPr>
          <a:xfrm>
            <a:off x="6439510" y="204363"/>
            <a:ext cx="5604997" cy="3541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/>
              <a:t>Assigned strategic intent to each trigger/selection combination (bullish/defensive/neutral)</a:t>
            </a:r>
          </a:p>
          <a:p>
            <a:pPr marL="457200" lvl="1" indent="0">
              <a:buNone/>
            </a:pPr>
            <a:r>
              <a:rPr lang="en-US" sz="1200" i="1" dirty="0"/>
              <a:t>→ Measured actual performance across historical market regimes</a:t>
            </a:r>
          </a:p>
          <a:p>
            <a:pPr marL="457200" lvl="1" indent="0">
              <a:buNone/>
            </a:pPr>
            <a:r>
              <a:rPr lang="en-US" sz="1200" i="1" dirty="0"/>
              <a:t>→ Validated whether strategies delivered as designed</a:t>
            </a:r>
          </a:p>
          <a:p>
            <a:r>
              <a:rPr lang="en-US" sz="1600" i="1" dirty="0"/>
              <a:t>Bullish strategies - those selecting funds with highest remaining cap - deliver exceptional returns in bull markets. </a:t>
            </a:r>
          </a:p>
          <a:p>
            <a:r>
              <a:rPr lang="en-US" sz="1600" i="1" dirty="0"/>
              <a:t>Defensive strategies - those selecting funds with lowest utilization and downside before buffer- show the opposite pattern.</a:t>
            </a:r>
          </a:p>
        </p:txBody>
      </p:sp>
      <p:pic>
        <p:nvPicPr>
          <p:cNvPr id="59" name="Content Placeholder 58">
            <a:extLst>
              <a:ext uri="{FF2B5EF4-FFF2-40B4-BE49-F238E27FC236}">
                <a16:creationId xmlns:a16="http://schemas.microsoft.com/office/drawing/2014/main" id="{0F4E06B5-8138-56F3-3CEB-76C84532D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7" y="3093224"/>
            <a:ext cx="5800326" cy="329168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AA3DB43F-D2E8-2B64-0498-38BF52EF5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79" y="3077839"/>
            <a:ext cx="5854547" cy="3322454"/>
          </a:xfrm>
          <a:prstGeom prst="rect">
            <a:avLst/>
          </a:prstGeom>
        </p:spPr>
      </p:pic>
      <p:grpSp>
        <p:nvGrpSpPr>
          <p:cNvPr id="134" name="Bottom Right">
            <a:extLst>
              <a:ext uri="{FF2B5EF4-FFF2-40B4-BE49-F238E27FC236}">
                <a16:creationId xmlns:a16="http://schemas.microsoft.com/office/drawing/2014/main" id="{AD4BD16E-C737-4940-9554-4F38D19BD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35" name="Graphic 157">
              <a:extLst>
                <a:ext uri="{FF2B5EF4-FFF2-40B4-BE49-F238E27FC236}">
                  <a16:creationId xmlns:a16="http://schemas.microsoft.com/office/drawing/2014/main" id="{ABCD3874-8B15-426E-9474-9E62D5576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143CC60-7FC7-4C7A-83AE-C0407345CF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2A80F6FC-4D96-4FC3-84CF-DCDF434CE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BD39541-DE32-4CD1-8233-10583989CD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83223A41-CAE9-48C9-B0F1-4D7336609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16E84E6-CDBF-4571-8BA3-F98186869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51EE14EE-AE62-4058-8E52-70EF8007B8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22A00BC-B1AC-4DB5-8CFE-61ABDEB272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692FB9F-D2E4-4C66-BCD8-3EB98044B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6717082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239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 Next LT Pro</vt:lpstr>
      <vt:lpstr>AvenirNext LT Pro Medium</vt:lpstr>
      <vt:lpstr>Rockwell</vt:lpstr>
      <vt:lpstr>Segoe UI</vt:lpstr>
      <vt:lpstr>ExploreVTI</vt:lpstr>
      <vt:lpstr>Buffer SMA Rotation Framework</vt:lpstr>
      <vt:lpstr>What We Tested - The Framework</vt:lpstr>
      <vt:lpstr>Existing Naïve 90% Cap Threshold Underperforms</vt:lpstr>
      <vt:lpstr>Recommendation for further discussion</vt:lpstr>
      <vt:lpstr>PowerPoint Presentation</vt:lpstr>
      <vt:lpstr>No Universal Solution (Regime Matters)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Corcoran</dc:creator>
  <cp:lastModifiedBy>Patrick Corcoran</cp:lastModifiedBy>
  <cp:revision>11</cp:revision>
  <dcterms:created xsi:type="dcterms:W3CDTF">2026-01-22T00:28:16Z</dcterms:created>
  <dcterms:modified xsi:type="dcterms:W3CDTF">2026-01-23T04:19:18Z</dcterms:modified>
</cp:coreProperties>
</file>